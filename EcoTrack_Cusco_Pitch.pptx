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UNSAAC × MUNICIPALIDAD DE WANCHAQ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 Track Cusco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inteligente de recolección de residuos sólidos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Rastreo GPS en tiempo real · Alertas por WhatsApp · Rutas optimizadas para el ciudadano de Wanchaq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806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· Listo para piloto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Calderón · Barazorda · Quispe · Almirón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0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recolección de residuos en Cusco todavía funciona a ciegas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5F1E8"/>
          </a:solidFill>
          <a:ln/>
          <a:effectLst>
            <a:outerShdw sx="100000" sy="100000" kx="0" ky="0" algn="bl" rotWithShape="0" blurRad="76200" dist="38100" dir="5400000">
              <a:srgbClr val="3A3A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2468880"/>
            <a:ext cx="731520" cy="73152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6" name="Image 0" descr="/sessions/wonderful-charming-thompson/mnt/outputs/icon_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Horarios impredecibles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977640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vecinos no saben con certeza cuándo pasa el camión y sacan la basura tarde o muy temprano.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5F1E8"/>
          </a:solidFill>
          <a:ln/>
          <a:effectLst>
            <a:outerShdw sx="100000" sy="100000" kx="0" ky="0" algn="bl" rotWithShape="0" blurRad="76200" dist="38100" dir="5400000">
              <a:srgbClr val="3A3A3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468880"/>
            <a:ext cx="731520" cy="73152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1" name="Image 1" descr="/sessions/wonderful-charming-thompson/mnt/outputs/icon_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Incidencias sin canal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9312" y="3977640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 de basura, puntos críticos o camiones que no llegan no tienen dónde reportarse.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5F1E8"/>
          </a:solidFill>
          <a:ln/>
          <a:effectLst>
            <a:outerShdw sx="100000" sy="100000" kx="0" ky="0" algn="bl" rotWithShape="0" blurRad="76200" dist="38100" dir="5400000">
              <a:srgbClr val="3A3A3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41464" y="2468880"/>
            <a:ext cx="731520" cy="73152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6" name="Image 2" descr="/sessions/wonderful-charming-thompson/mnt/outputs/icon_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6334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visibilidad de flota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37376" y="3977640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municipalidad no tiene forma de ver en tiempo real dónde están sus unidades ni si cumplen la ruta.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5F1E8"/>
          </a:solidFill>
          <a:ln/>
          <a:effectLst>
            <a:outerShdw sx="100000" sy="100000" kx="0" ky="0" algn="bl" rotWithShape="0" blurRad="76200" dist="38100" dir="5400000">
              <a:srgbClr val="3A3A3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39528" y="2468880"/>
            <a:ext cx="731520" cy="73152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21" name="Image 3" descr="/sessions/wonderful-charming-thompson/mnt/outputs/icon_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6334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7152" y="33832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sin datos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977640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métricas de cobertura, cumplimiento de rutas ni incidencias para planificar mejor.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4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plataforma, tres roles, un solo sistema en vivo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Track Cusco conecta al ciudadano, al conductor y a la municipalidad en tiempo real: rutas, GPS, incidencias y notificaciones automáticas por WhatsApp.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3383280"/>
            <a:ext cx="640080" cy="640080"/>
          </a:xfrm>
          <a:prstGeom prst="ellipse">
            <a:avLst/>
          </a:prstGeom>
          <a:solidFill>
            <a:srgbClr val="805533"/>
          </a:solidFill>
          <a:ln/>
        </p:spPr>
      </p:sp>
      <p:pic>
        <p:nvPicPr>
          <p:cNvPr id="8" name="Image 0" descr="/sessions/wonderful-charming-thompson/mnt/outputs/icon_schoo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5387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Ciudadano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45720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horarios, reporta incidencias y recibe alarmas de WhatsApp cuando el camión se acerca.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0" y="30632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26280" y="3383280"/>
            <a:ext cx="640080" cy="640080"/>
          </a:xfrm>
          <a:prstGeom prst="ellipse">
            <a:avLst/>
          </a:prstGeom>
          <a:solidFill>
            <a:srgbClr val="805533"/>
          </a:solidFill>
          <a:ln/>
        </p:spPr>
      </p:sp>
      <p:pic>
        <p:nvPicPr>
          <p:cNvPr id="13" name="Image 1" descr="/sessions/wonderful-charming-thompson/mnt/outputs/icon_tru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35387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Conductor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26280" y="45720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su ruta en el mapa, marca paradas y transmite su posición GPS cada 15 segundos.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0" y="30632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092440" y="3383280"/>
            <a:ext cx="640080" cy="640080"/>
          </a:xfrm>
          <a:prstGeom prst="ellipse">
            <a:avLst/>
          </a:prstGeom>
          <a:solidFill>
            <a:srgbClr val="805533"/>
          </a:solidFill>
          <a:ln/>
        </p:spPr>
      </p:sp>
      <p:pic>
        <p:nvPicPr>
          <p:cNvPr id="18" name="Image 2" descr="/sessions/wonderful-charming-thompson/mnt/outputs/icon_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5387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Municipalidad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092440" y="45720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la flota en vivo, gestiona rutas, usuarios, incidencias y analíticas desde un panel único.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0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que necesita un piloto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5F1E8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30552"/>
            <a:ext cx="566928" cy="566928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6" name="Image 0" descr="/sessions/wonderful-charming-thompson/mnt/outputs/icon_satelli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939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en tiempo real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envía su posición cada 15s; admin y ciudadano ven el camión moverse en vivo.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5F1E8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584" y="2130552"/>
            <a:ext cx="566928" cy="566928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1" name="Image 1" descr="/sessions/wonderful-charming-thompson/mnt/outputs/icon_rout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2677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0939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rutas oficiales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72584" y="278892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paradas del rutero real de Wanchaq 2024, ya cargadas y editables en mapa.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5F1E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9056" y="2130552"/>
            <a:ext cx="566928" cy="566928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6" name="Image 2" descr="/sessions/wonderful-charming-thompson/mnt/outputs/icon_whatsap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2677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8864" y="209397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Alarmas por WhatsApp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8892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vecino elige su punto y ruta; recibe aviso cuando el camión está a 3 paradas de su casa.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4805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5F1E8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736592"/>
            <a:ext cx="566928" cy="566928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21" name="Image 3" descr="/sessions/wonderful-charming-thompson/mnt/outputs/icon_al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87375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70001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de incidencias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539496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reportan puntos críticos; el admin gestiona y da seguimiento por zona.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44805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5F1E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72584" y="4736592"/>
            <a:ext cx="566928" cy="566928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26" name="Image 4" descr="/sessions/wonderful-charming-thompson/mnt/outputs/icon_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87375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70001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 analíticas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72584" y="539496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cobertura, cumplimiento de rutas e incidencias para tomar decisiones.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44805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5F1E8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9056" y="4736592"/>
            <a:ext cx="566928" cy="566928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31" name="Image 5" descr="/sessions/wonderful-charming-thompson/mnt/outputs/icon_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487375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98864" y="470001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nivel producción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49056" y="539496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roles, rate limiting, Helmet, cookies httpOnly y guards por endpoint.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0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vecino ve el camión acercarse a su casa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su ubicación guardada, el ciudadano sigue al camión por streaming (SSE) sobre la ruta al punto de recojo más cercano. Cuando el camión está a 3 paradas de distancia, recibe un aviso doble: notificación en la app y mensaje de WhatsApp.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5421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37673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su casa en el mapa una sola vez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361688"/>
            <a:ext cx="365760" cy="365760"/>
          </a:xfrm>
          <a:prstGeom prst="ellipse">
            <a:avLst/>
          </a:prstGeom>
          <a:solidFill>
            <a:srgbClr val="15421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43342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día → punto de recojo → ruta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928616"/>
            <a:ext cx="365760" cy="365760"/>
          </a:xfrm>
          <a:prstGeom prst="ellipse">
            <a:avLst/>
          </a:prstGeom>
          <a:solidFill>
            <a:srgbClr val="15421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9011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aviso "a 3 paradas" en app + WhatsApp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280160"/>
            <a:ext cx="5029200" cy="5120640"/>
          </a:xfrm>
          <a:prstGeom prst="roundRect">
            <a:avLst>
              <a:gd name="adj" fmla="val 3273"/>
            </a:avLst>
          </a:prstGeom>
          <a:solidFill>
            <a:srgbClr val="154212"/>
          </a:solidFill>
          <a:ln/>
          <a:effectLst>
            <a:outerShdw sx="100000" sy="100000" kx="0" ky="0" algn="bl" rotWithShape="0" blurRad="127000" dist="50800" dir="5400000">
              <a:srgbClr val="3A3A3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1600200"/>
            <a:ext cx="4389120" cy="3749040"/>
          </a:xfrm>
          <a:prstGeom prst="roundRect">
            <a:avLst>
              <a:gd name="adj" fmla="val 2927"/>
            </a:avLst>
          </a:prstGeom>
          <a:solidFill>
            <a:srgbClr val="0E2E0D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2280" y="2350008"/>
            <a:ext cx="4389120" cy="0"/>
          </a:xfrm>
          <a:prstGeom prst="line">
            <a:avLst/>
          </a:prstGeom>
          <a:noFill/>
          <a:ln w="12700">
            <a:solidFill>
              <a:srgbClr val="1E4A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099816"/>
            <a:ext cx="4389120" cy="0"/>
          </a:xfrm>
          <a:prstGeom prst="line">
            <a:avLst/>
          </a:prstGeom>
          <a:noFill/>
          <a:ln w="12700">
            <a:solidFill>
              <a:srgbClr val="1E4A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3849624"/>
            <a:ext cx="4389120" cy="0"/>
          </a:xfrm>
          <a:prstGeom prst="line">
            <a:avLst/>
          </a:prstGeom>
          <a:noFill/>
          <a:ln w="12700">
            <a:solidFill>
              <a:srgbClr val="1E4A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4599432"/>
            <a:ext cx="4389120" cy="0"/>
          </a:xfrm>
          <a:prstGeom prst="line">
            <a:avLst/>
          </a:prstGeom>
          <a:noFill/>
          <a:ln w="12700">
            <a:solidFill>
              <a:srgbClr val="1E4A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4747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1" name="Image 0" descr="/sessions/wonderful-charming-thompson/mnt/outputs/icon_truck_1542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3547872"/>
            <a:ext cx="310896" cy="31089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9509760" y="4572000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3" name="Image 1" descr="/sessions/wonderful-charming-thompson/mnt/outputs/icon_p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4645152"/>
            <a:ext cx="237744" cy="23774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635240" y="3703320"/>
            <a:ext cx="2057400" cy="1051560"/>
          </a:xfrm>
          <a:prstGeom prst="line">
            <a:avLst/>
          </a:prstGeom>
          <a:noFill/>
          <a:ln w="31750">
            <a:solidFill>
              <a:srgbClr val="97BC62"/>
            </a:solidFill>
            <a:prstDash val="dash"/>
          </a:ln>
        </p:spPr>
      </p:sp>
      <p:pic>
        <p:nvPicPr>
          <p:cNvPr id="25" name="Image 2" descr="/sessions/wonderful-charming-thompson/mnt/outputs/icon_tru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5513832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88352" y="5532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paradas de tu casa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995160" y="59436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pic>
        <p:nvPicPr>
          <p:cNvPr id="28" name="Image 3" descr="/sessions/wonderful-charming-thompson/mnt/outputs/icon_whatsapp_1542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599846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2360" y="5943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por WhatsApp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0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CAPÓ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Construido con tecnología de nivel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F5F1E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57984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6" name="Image 0" descr="/sessions/wonderful-charming-thompson/mnt/outputs/icon_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768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39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91840" y="203911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Tailwind v4 · PWA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F5F1E8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145536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1" name="Image 1" descr="/sessions/wonderful-charming-thompson/mnt/outputs/icon_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26440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026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3026664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 · Prisma · Swagger · Turso (libSQL)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941064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F5F1E8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33088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6" name="Image 2" descr="/sessions/wonderful-charming-thompson/mnt/outputs/icon_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519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&amp; rutas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291840" y="4014216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· OSRM · Nominatim geocoding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928616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F5F1E8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120640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21" name="Image 3" descr="/sessions/wonderful-charming-thompson/mnt/outputs/icon_be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2395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001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Notificaciones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291840" y="5001768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+ Twilio WhatsApp · Notification API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040880" y="1965960"/>
            <a:ext cx="4480560" cy="1325880"/>
          </a:xfrm>
          <a:prstGeom prst="roundRect">
            <a:avLst>
              <a:gd name="adj" fmla="val 8276"/>
            </a:avLst>
          </a:prstGeom>
          <a:solidFill>
            <a:srgbClr val="154212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0" y="207568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8778240" y="21031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 documentados en Swagger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040880" y="3502152"/>
            <a:ext cx="4480560" cy="1325880"/>
          </a:xfrm>
          <a:prstGeom prst="roundRect">
            <a:avLst>
              <a:gd name="adj" fmla="val 8276"/>
            </a:avLst>
          </a:prstGeom>
          <a:solidFill>
            <a:srgbClr val="154212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0" y="3611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4000" dirty="0"/>
          </a:p>
        </p:txBody>
      </p:sp>
      <p:sp>
        <p:nvSpPr>
          <p:cNvPr id="29" name="Text 23"/>
          <p:cNvSpPr/>
          <p:nvPr/>
        </p:nvSpPr>
        <p:spPr>
          <a:xfrm>
            <a:off x="8778240" y="3639312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 (89 unitarios + 9 e2e)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040880" y="5038344"/>
            <a:ext cx="4480560" cy="1325880"/>
          </a:xfrm>
          <a:prstGeom prst="roundRect">
            <a:avLst>
              <a:gd name="adj" fmla="val 8276"/>
            </a:avLst>
          </a:prstGeom>
          <a:solidFill>
            <a:srgbClr val="154212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0" y="514807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32" name="Text 26"/>
          <p:cNvSpPr/>
          <p:nvPr/>
        </p:nvSpPr>
        <p:spPr>
          <a:xfrm>
            <a:off x="8778240" y="5175504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287 paradas del rutero oficial ya cargadas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 GitHub Actions · Deploy en Ubuntu + Nginx + PM2 · Rate limiting y headers de seguridad (Helmet)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4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 Wanchaq con este sistema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545336" y="2331720"/>
            <a:ext cx="731520" cy="731520"/>
          </a:xfrm>
          <a:prstGeom prst="ellipse">
            <a:avLst/>
          </a:prstGeom>
          <a:solidFill>
            <a:srgbClr val="805533"/>
          </a:solidFill>
          <a:ln/>
        </p:spPr>
      </p:sp>
      <p:pic>
        <p:nvPicPr>
          <p:cNvPr id="7" name="Image 0" descr="/sessions/wonderful-charming-thompson/mnt/outputs/icon_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4963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37947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quejas por horarios impredecibles de recolección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8144" y="20116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2331720"/>
            <a:ext cx="731520" cy="731520"/>
          </a:xfrm>
          <a:prstGeom prst="ellipse">
            <a:avLst/>
          </a:prstGeom>
          <a:solidFill>
            <a:srgbClr val="805533"/>
          </a:solidFill>
          <a:ln/>
        </p:spPr>
      </p:sp>
      <p:pic>
        <p:nvPicPr>
          <p:cNvPr id="12" name="Image 1" descr="/sessions/wonderful-charming-thompson/mnt/outputs/icon_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4963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24612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639312" y="37947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de cobertura y cumplimiento de ruta para planificar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36208" y="20116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141464" y="2331720"/>
            <a:ext cx="731520" cy="731520"/>
          </a:xfrm>
          <a:prstGeom prst="ellipse">
            <a:avLst/>
          </a:prstGeom>
          <a:solidFill>
            <a:srgbClr val="805533"/>
          </a:solidFill>
          <a:ln/>
        </p:spPr>
      </p:sp>
      <p:pic>
        <p:nvPicPr>
          <p:cNvPr id="17" name="Image 2" descr="/sessions/wonderful-charming-thompson/mnt/outputs/icon_leaf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49631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24612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437376" y="37947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acumulados en la vía pública y puntos críticos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34272" y="201168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9939528" y="2331720"/>
            <a:ext cx="731520" cy="731520"/>
          </a:xfrm>
          <a:prstGeom prst="ellipse">
            <a:avLst/>
          </a:prstGeom>
          <a:solidFill>
            <a:srgbClr val="805533"/>
          </a:solidFill>
          <a:ln/>
        </p:spPr>
      </p:sp>
      <p:pic>
        <p:nvPicPr>
          <p:cNvPr id="22" name="Image 3" descr="/sessions/wonderful-charming-thompson/mnt/outputs/icon_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49631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24612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4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+Confianza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9235440" y="3794760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vecino en el servicio municipal, con canal directo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0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llevamos Eco Track a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5F1E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6" name="Image 0" descr="/sessions/wonderful-charming-thompson/mnt/outputs/icon_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68296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68880" y="229514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54212"/>
          </a:solidFill>
          <a:ln/>
        </p:spPr>
      </p:sp>
      <p:sp>
        <p:nvSpPr>
          <p:cNvPr id="8" name="Text 5"/>
          <p:cNvSpPr/>
          <p:nvPr/>
        </p:nvSpPr>
        <p:spPr>
          <a:xfrm>
            <a:off x="2468880" y="22951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disponible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Piloto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Wanchaq con la flota y rutas actuales. Onboarding de conductores y campaña vecinal.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16552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5F1E8"/>
          </a:solidFill>
          <a:ln/>
        </p:spPr>
      </p:sp>
      <p:sp>
        <p:nvSpPr>
          <p:cNvPr id="12" name="Shape 9"/>
          <p:cNvSpPr/>
          <p:nvPr/>
        </p:nvSpPr>
        <p:spPr>
          <a:xfrm>
            <a:off x="4690872" y="2240280"/>
            <a:ext cx="548640" cy="54864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3" name="Image 1" descr="/sessions/wonderful-charming-thompson/mnt/outputs/icon_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368296"/>
            <a:ext cx="292608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45352" y="229514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805533"/>
          </a:solidFill>
          <a:ln/>
        </p:spPr>
      </p:sp>
      <p:sp>
        <p:nvSpPr>
          <p:cNvPr id="15" name="Text 11"/>
          <p:cNvSpPr/>
          <p:nvPr/>
        </p:nvSpPr>
        <p:spPr>
          <a:xfrm>
            <a:off x="6245352" y="22951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90872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— Escalamiento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90872" y="35661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token, logging estructurado (Pino/Winston) y monitorización de errores (Sentry) para uso 24/7.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93024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5F1E8"/>
          </a:solidFill>
          <a:ln/>
        </p:spPr>
      </p:sp>
      <p:sp>
        <p:nvSpPr>
          <p:cNvPr id="19" name="Shape 15"/>
          <p:cNvSpPr/>
          <p:nvPr/>
        </p:nvSpPr>
        <p:spPr>
          <a:xfrm>
            <a:off x="8467344" y="2240280"/>
            <a:ext cx="548640" cy="54864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20" name="Image 2" descr="/sessions/wonderful-charming-thompson/mnt/outputs/icon_rou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68296"/>
            <a:ext cx="292608" cy="2926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021824" y="229514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805533"/>
          </a:solidFill>
          <a:ln/>
        </p:spPr>
      </p:sp>
      <p:sp>
        <p:nvSpPr>
          <p:cNvPr id="22" name="Text 17"/>
          <p:cNvSpPr/>
          <p:nvPr/>
        </p:nvSpPr>
        <p:spPr>
          <a:xfrm>
            <a:off x="10021824" y="22951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467344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— Expansión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67344" y="35661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del modelo a otros distritos de Cusco, con multi-municipio sobre la misma plataforma.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0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ético y legal del aplicativo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ubicación y de vecinos se tratan con el mismo cuidado que exigimos para nuestros propios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1E8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322576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7" name="Image 0" descr="/sessions/wonderful-charming-thompson/mnt/outputs/icon_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de datos personales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9536" y="2880360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la Ley N° 29733 y su reglamento: los datos de ciudadanos y conductores (nombre, teléfono, ubicación) se recolectan con finalidad específica y no se ceden a terceros ajenos al servicio.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16552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1E8"/>
          </a:solidFill>
          <a:ln/>
        </p:spPr>
      </p:sp>
      <p:sp>
        <p:nvSpPr>
          <p:cNvPr id="11" name="Shape 8"/>
          <p:cNvSpPr/>
          <p:nvPr/>
        </p:nvSpPr>
        <p:spPr>
          <a:xfrm>
            <a:off x="4636008" y="2322576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2" name="Image 1" descr="/sessions/wonderful-charming-thompson/mnt/outputs/icon_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231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9512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Consentimiento informado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36008" y="2880360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acepta expresamente el rastreo GPS como parte de su función; el ciudadano decide voluntariamente guardar su casa y activar alarmas, y puede eliminarlas cuando quiera.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93024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1E8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322576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17" name="Image 2" descr="/sessions/wonderful-charming-thompson/mnt/outputs/icon_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42316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15984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Minimización y propósito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12480" y="2880360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guarda la ubicación necesaria para operar la ruta y la alarma — sin perfilamiento, sin venta de datos, sin uso publicitario de la información recolectada.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427024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1E8"/>
          </a:solidFill>
          <a:ln/>
        </p:spPr>
      </p:sp>
      <p:sp>
        <p:nvSpPr>
          <p:cNvPr id="21" name="Shape 16"/>
          <p:cNvSpPr/>
          <p:nvPr/>
        </p:nvSpPr>
        <p:spPr>
          <a:xfrm>
            <a:off x="859536" y="4489704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22" name="Image 3" descr="/sessions/wonderful-charming-thompson/mnt/outputs/icon_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9028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453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 municipal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59536" y="5047488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gestión (rutas, cobertura, incidencias) están al servicio de la Ley N° 27806 de Transparencia, para rendición de cuentas ante la comuna.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416552" y="427024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1E8"/>
          </a:solidFill>
          <a:ln/>
        </p:spPr>
      </p:sp>
      <p:sp>
        <p:nvSpPr>
          <p:cNvPr id="26" name="Shape 20"/>
          <p:cNvSpPr/>
          <p:nvPr/>
        </p:nvSpPr>
        <p:spPr>
          <a:xfrm>
            <a:off x="4636008" y="4489704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27" name="Image 4" descr="/sessions/wonderful-charming-thompson/mnt/outputs/icon_bel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59028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39512" y="4453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responsable de WhatsApp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36008" y="5047488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notificaciones vía Twilio se envían solo a números que el propio usuario registró y confirmó en su perfil, nunca a listas compradas o de terceros.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93024" y="427024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1E8"/>
          </a:solidFill>
          <a:ln/>
        </p:spPr>
      </p:sp>
      <p:sp>
        <p:nvSpPr>
          <p:cNvPr id="31" name="Shape 24"/>
          <p:cNvSpPr/>
          <p:nvPr/>
        </p:nvSpPr>
        <p:spPr>
          <a:xfrm>
            <a:off x="8412480" y="4489704"/>
            <a:ext cx="457200" cy="457200"/>
          </a:xfrm>
          <a:prstGeom prst="ellipse">
            <a:avLst/>
          </a:prstGeom>
          <a:solidFill>
            <a:srgbClr val="154212"/>
          </a:solidFill>
          <a:ln/>
        </p:spPr>
      </p:sp>
      <p:pic>
        <p:nvPicPr>
          <p:cNvPr id="32" name="Image 5" descr="/sessions/wonderful-charming-thompson/mnt/outputs/icon_us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59028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15984" y="4453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e inclusión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412480" y="5047488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evita discriminar por rol o zona; ciudadano, conductor y municipalidad acceden únicamente a la información pertinente a su función (RBAC).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4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029200" cy="50292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Cusco limpio empieza con datos en tiempo real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Track Cusco ya funciona. Propongamos un piloto en Wanchaq y midamos el impacto juntos.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demo del piloto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UNSAAC · en colaboración con la Municipalidad Distrital de Wanchaq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Calderón · Barazorda · Quispe · Almirón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2026-07-30T12:36:54Z</dcterms:created>
  <dcterms:modified xsi:type="dcterms:W3CDTF">2026-07-30T12:36:54Z</dcterms:modified>
</cp:coreProperties>
</file>